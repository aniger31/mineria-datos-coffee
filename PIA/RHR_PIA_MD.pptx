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Datos</c:v>
                </c:pt>
              </c:strCache>
            </c:strRef>
          </c:tx>
          <c:spPr>
            <a:ln w="25400" cap="flat">
              <a:solidFill>
                <a:srgbClr val="C47C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7C2B"/>
              </a:solidFill>
              <a:ln w="9525" cap="flat">
                <a:solidFill>
                  <a:srgbClr val="C47C2B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35</c:v>
                </c:pt>
                <c:pt idx="3">
                  <c:v>50</c:v>
                </c:pt>
                <c:pt idx="4">
                  <c:v>70</c:v>
                </c:pt>
                <c:pt idx="5">
                  <c:v>90</c:v>
                </c:pt>
                <c:pt idx="6">
                  <c:v>110</c:v>
                </c:pt>
                <c:pt idx="7">
                  <c:v>140</c:v>
                </c:pt>
                <c:pt idx="8">
                  <c:v>180</c:v>
                </c:pt>
                <c:pt idx="9">
                  <c:v>230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60</c:v>
                </c:pt>
                <c:pt idx="1">
                  <c:v>75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105</c:v>
                </c:pt>
                <c:pt idx="7">
                  <c:v>120</c:v>
                </c:pt>
                <c:pt idx="8">
                  <c:v>130</c:v>
                </c:pt>
                <c:pt idx="9">
                  <c:v>140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D56-4840-AA42-A7F3F4061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Tendencia</c:v>
                </c:pt>
              </c:strCache>
            </c:strRef>
          </c:tx>
          <c:spPr>
            <a:ln w="25400" cap="flat">
              <a:solidFill>
                <a:srgbClr val="C47C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7C2B"/>
              </a:solidFill>
              <a:ln w="9525" cap="flat">
                <a:solidFill>
                  <a:srgbClr val="C47C2B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35</c:v>
                </c:pt>
                <c:pt idx="3">
                  <c:v>50</c:v>
                </c:pt>
                <c:pt idx="4">
                  <c:v>70</c:v>
                </c:pt>
                <c:pt idx="5">
                  <c:v>90</c:v>
                </c:pt>
                <c:pt idx="6">
                  <c:v>110</c:v>
                </c:pt>
                <c:pt idx="7">
                  <c:v>140</c:v>
                </c:pt>
                <c:pt idx="8">
                  <c:v>180</c:v>
                </c:pt>
                <c:pt idx="9">
                  <c:v>230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73</c:v>
                </c:pt>
                <c:pt idx="1">
                  <c:v>76</c:v>
                </c:pt>
                <c:pt idx="2">
                  <c:v>81</c:v>
                </c:pt>
                <c:pt idx="3">
                  <c:v>86</c:v>
                </c:pt>
                <c:pt idx="4">
                  <c:v>93</c:v>
                </c:pt>
                <c:pt idx="5">
                  <c:v>100</c:v>
                </c:pt>
                <c:pt idx="6">
                  <c:v>107</c:v>
                </c:pt>
                <c:pt idx="7">
                  <c:v>117</c:v>
                </c:pt>
                <c:pt idx="8">
                  <c:v>130</c:v>
                </c:pt>
                <c:pt idx="9">
                  <c:v>147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D56-4840-AA42-A7F3F4061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MX" b="0" i="0" u="none" strike="noStrike">
                    <a:solidFill>
                      <a:srgbClr val="000000"/>
                    </a:solidFill>
                    <a:latin typeface="Arial"/>
                  </a:rPr>
                  <a:t>Producción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MX" b="0" i="0" u="none" strike="noStrike">
                    <a:solidFill>
                      <a:srgbClr val="000000"/>
                    </a:solidFill>
                    <a:latin typeface="Arial"/>
                  </a:rPr>
                  <a:t>Consumo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4.85723E-17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ADD30733-B90A-B893-DDBC-AA64B8721FF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0800" y="50800"/>
          <a:ext cx="5303520" cy="36576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23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7B4A1E">
              <a:alpha val="30000"/>
            </a:srgbClr>
          </a:solidFill>
          <a:ln w="12700">
            <a:solidFill>
              <a:srgbClr val="7B4A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C47C2B">
              <a:alpha val="45000"/>
            </a:srgbClr>
          </a:solidFill>
          <a:ln w="12700">
            <a:solidFill>
              <a:srgbClr val="C47C2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73152" cy="256032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y Tendencias en la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y Consumo de Café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3383280"/>
            <a:ext cx="2011680" cy="347472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1A0E"/>
                </a:solidFill>
              </a:rPr>
              <a:t>Minería de 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 Hernández Rodríguez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2000640  ·  29/04/2026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utilizado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749040" cy="356616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utilizó un dataset sobre la distribución de café en 94 países, con información de producción, consumo, importaciones y exportaciones.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05840" cy="1280160"/>
          </a:xfrm>
          <a:prstGeom prst="rect">
            <a:avLst/>
          </a:prstGeom>
          <a:solidFill>
            <a:srgbClr val="3E2410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154680"/>
            <a:ext cx="1005840" cy="1280160"/>
          </a:xfrm>
          <a:prstGeom prst="rect">
            <a:avLst/>
          </a:prstGeom>
          <a:solidFill>
            <a:srgbClr val="3E2410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737360" y="32004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840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3154680"/>
            <a:ext cx="1005840" cy="1280160"/>
          </a:xfrm>
          <a:prstGeom prst="rect">
            <a:avLst/>
          </a:prstGeom>
          <a:solidFill>
            <a:srgbClr val="3E2410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64008" cy="356616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81051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patrones y tendencias en el comportamiento del café a nivel mundial, utilizando técnicas de minería de datos.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090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incluidas: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anual por país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doméstico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Importaciones y exportaciones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C3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geográfica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Lineal: Producción vs Consumo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87431290"/>
              </p:ext>
            </p:extLst>
          </p:nvPr>
        </p:nvGraphicFramePr>
        <p:xfrm>
          <a:off x="36576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743200" cy="1600200"/>
          </a:xfrm>
          <a:prstGeom prst="rect">
            <a:avLst/>
          </a:prstGeom>
          <a:solidFill>
            <a:srgbClr val="2C1A0E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débil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3063240"/>
            <a:ext cx="2743200" cy="1600200"/>
          </a:xfrm>
          <a:prstGeom prst="rect">
            <a:avLst/>
          </a:prstGeom>
          <a:solidFill>
            <a:srgbClr val="2C1A0E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1264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Débil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26480" y="3977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producción no predice bien el consumo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E2410"/>
          </a:solidFill>
          <a:ln w="12700">
            <a:solidFill>
              <a:srgbClr val="3E241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con KNN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3200400"/>
          </a:xfrm>
          <a:prstGeom prst="ellipse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99.67%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143000"/>
            <a:ext cx="4663440" cy="1097280"/>
          </a:xfrm>
          <a:prstGeom prst="rect">
            <a:avLst/>
          </a:prstGeom>
          <a:solidFill>
            <a:srgbClr val="3E2410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114800" y="1143000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297680" y="12161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554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423160"/>
            <a:ext cx="4663440" cy="1097280"/>
          </a:xfrm>
          <a:prstGeom prst="rect">
            <a:avLst/>
          </a:prstGeom>
          <a:solidFill>
            <a:srgbClr val="3E2410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114800" y="2423160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297680" y="2496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834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pueden clasificarse fácilmente en niveles de producción.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3703320"/>
            <a:ext cx="4663440" cy="1097280"/>
          </a:xfrm>
          <a:prstGeom prst="rect">
            <a:avLst/>
          </a:prstGeom>
          <a:solidFill>
            <a:srgbClr val="3E2410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114800" y="3703320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297680" y="37764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4114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patrones muy claros en el dataset de café.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con K-Means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49377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078992"/>
            <a:ext cx="3246120" cy="1097280"/>
          </a:xfrm>
          <a:prstGeom prst="rect">
            <a:avLst/>
          </a:prstGeom>
          <a:solidFill>
            <a:srgbClr val="2C1A0E"/>
          </a:solidFill>
          <a:ln w="19050">
            <a:solidFill>
              <a:srgbClr val="1A6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5577840" y="1078992"/>
            <a:ext cx="64008" cy="1097280"/>
          </a:xfrm>
          <a:prstGeom prst="rect">
            <a:avLst/>
          </a:prstGeom>
          <a:solidFill>
            <a:srgbClr val="1A6B4B"/>
          </a:solidFill>
          <a:ln w="12700">
            <a:solidFill>
              <a:srgbClr val="1A6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5650992" y="1307592"/>
            <a:ext cx="347472" cy="347472"/>
          </a:xfrm>
          <a:prstGeom prst="ellipse">
            <a:avLst/>
          </a:prstGeom>
          <a:solidFill>
            <a:srgbClr val="1A6B4B"/>
          </a:solidFill>
          <a:ln w="12700">
            <a:solidFill>
              <a:srgbClr val="1A6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5650992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1521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producción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8076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medio-alto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(verde)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340864"/>
            <a:ext cx="3246120" cy="1097280"/>
          </a:xfrm>
          <a:prstGeom prst="rect">
            <a:avLst/>
          </a:prstGeom>
          <a:solidFill>
            <a:srgbClr val="2C1A0E"/>
          </a:solidFill>
          <a:ln w="1905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577840" y="2340864"/>
            <a:ext cx="64008" cy="1097280"/>
          </a:xfrm>
          <a:prstGeom prst="rect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5650992" y="2569464"/>
            <a:ext cx="347472" cy="347472"/>
          </a:xfrm>
          <a:prstGeom prst="ellipse">
            <a:avLst/>
          </a:prstGeom>
          <a:solidFill>
            <a:srgbClr val="7B4A1E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5650992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24140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producción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80760" y="2816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consumo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(morado)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77840" y="3602736"/>
            <a:ext cx="3246120" cy="1097280"/>
          </a:xfrm>
          <a:prstGeom prst="rect">
            <a:avLst/>
          </a:prstGeom>
          <a:solidFill>
            <a:srgbClr val="2C1A0E"/>
          </a:solidFill>
          <a:ln w="19050">
            <a:solidFill>
              <a:srgbClr val="B8A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5577840" y="3602736"/>
            <a:ext cx="64008" cy="1097280"/>
          </a:xfrm>
          <a:prstGeom prst="rect">
            <a:avLst/>
          </a:prstGeom>
          <a:solidFill>
            <a:srgbClr val="B8A000"/>
          </a:solidFill>
          <a:ln w="12700">
            <a:solidFill>
              <a:srgbClr val="B8A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5650992" y="3831336"/>
            <a:ext cx="347472" cy="347472"/>
          </a:xfrm>
          <a:prstGeom prst="ellipse">
            <a:avLst/>
          </a:prstGeom>
          <a:solidFill>
            <a:srgbClr val="B8A000"/>
          </a:solidFill>
          <a:ln w="12700">
            <a:solidFill>
              <a:srgbClr val="B8A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5650992" y="3831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0760" y="36758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producción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80760" y="40782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consumo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B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(amarillo)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Existen diferentes perfiles de países en el mercado del café.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Predicción de Producción (Forecasting)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172200" y="1188720"/>
            <a:ext cx="2606040" cy="1645920"/>
          </a:xfrm>
          <a:prstGeom prst="rect">
            <a:avLst/>
          </a:prstGeom>
          <a:solidFill>
            <a:srgbClr val="2C1A0E"/>
          </a:solidFill>
          <a:ln w="19050">
            <a:solidFill>
              <a:srgbClr val="1A6B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6263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6642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Creciente ↑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172200" y="3063240"/>
            <a:ext cx="2606040" cy="1645920"/>
          </a:xfrm>
          <a:prstGeom prst="rect">
            <a:avLst/>
          </a:prstGeom>
          <a:solidFill>
            <a:srgbClr val="2C1A0E"/>
          </a:solidFill>
          <a:ln w="1905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2636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Seguirá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creciendo</a:t>
            </a:r>
            <a:endParaRPr lang="en-US" sz="2000" dirty="0"/>
          </a:p>
        </p:txBody>
      </p:sp>
      <p:pic>
        <p:nvPicPr>
          <p:cNvPr id="13" name="chart">
            <a:extLst>
              <a:ext uri="{FF2B5EF4-FFF2-40B4-BE49-F238E27FC236}">
                <a16:creationId xmlns:a16="http://schemas.microsoft.com/office/drawing/2014/main" id="{D5DC6376-CD0F-1A8F-D12A-C7B94F1B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56" y="1213840"/>
            <a:ext cx="5320861" cy="35472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Texto — Word Cloud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669280" y="1143000"/>
            <a:ext cx="3108960" cy="1097280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669280" y="1143000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833872" y="12161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África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33872" y="15544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concentración en países productores: Etiopía, Uganda, Kenya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404872"/>
            <a:ext cx="3108960" cy="1097280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669280" y="2404872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833872" y="2478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Latinoamérica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33872" y="28163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Brasil, Colombia, Honduras, México, Perú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3666744"/>
            <a:ext cx="3108960" cy="1097280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5669280" y="3666744"/>
            <a:ext cx="64008" cy="109728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833872" y="373989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33872" y="4078224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Geográficamente no uniforme — ciertos países lideran la producción global</a:t>
            </a:r>
            <a:endParaRPr lang="en-US" sz="1050" dirty="0"/>
          </a:p>
        </p:txBody>
      </p:sp>
      <p:pic>
        <p:nvPicPr>
          <p:cNvPr id="31" name="Imagen 30" descr="Texto, Carta&#10;&#10;El contenido generado por IA puede ser incorrecto.">
            <a:extLst>
              <a:ext uri="{FF2B5EF4-FFF2-40B4-BE49-F238E27FC236}">
                <a16:creationId xmlns:a16="http://schemas.microsoft.com/office/drawing/2014/main" id="{D88FA459-FD35-618F-B8C3-13A1ACE7D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81" y="1484887"/>
            <a:ext cx="5216151" cy="2937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286000"/>
            <a:ext cx="4572000" cy="4572000"/>
          </a:xfrm>
          <a:prstGeom prst="ellipse">
            <a:avLst/>
          </a:prstGeom>
          <a:solidFill>
            <a:srgbClr val="7B4A1E">
              <a:alpha val="20000"/>
            </a:srgbClr>
          </a:solidFill>
          <a:ln w="12700">
            <a:solidFill>
              <a:srgbClr val="7B4A1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E2410"/>
          </a:solidFill>
          <a:ln w="12700">
            <a:solidFill>
              <a:srgbClr val="3E241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9576"/>
            <a:ext cx="411480" cy="411480"/>
          </a:xfrm>
          <a:prstGeom prst="ellipse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179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producción de café ha aumentado con el tiempo.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411480" cy="411480"/>
          </a:xfrm>
          <a:prstGeom prst="ellipse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relación fuerte entre producción y consumo (R² = 0.14).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411480" cy="411480"/>
          </a:xfrm>
          <a:prstGeom prst="ellipse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4378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patrones muy claros en los datos (KNN Accuracy 99.67%).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730752"/>
            <a:ext cx="411480" cy="411480"/>
          </a:xfrm>
          <a:prstGeom prst="ellipse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1148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9417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posible clasificar y segmentar países en 3 perfiles distintos.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5943600" cy="457200"/>
          </a:xfrm>
          <a:prstGeom prst="rect">
            <a:avLst/>
          </a:prstGeom>
          <a:solidFill>
            <a:srgbClr val="C47C2B"/>
          </a:solidFill>
          <a:ln w="12700">
            <a:solidFill>
              <a:srgbClr val="C47C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minería de datos transformó datos en conocimiento útil para la toma de decisiones.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311</Words>
  <Application>Microsoft Office PowerPoint</Application>
  <PresentationFormat>Presentación en pantalla (16:9)</PresentationFormat>
  <Paragraphs>84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y Tendencias en la Producción y Consumo de Café</dc:title>
  <dc:subject>PptxGenJS Presentation</dc:subject>
  <dc:creator>PptxGenJS</dc:creator>
  <cp:lastModifiedBy>REGINA HERNANDEZ RODRIGUEZ</cp:lastModifiedBy>
  <cp:revision>2</cp:revision>
  <dcterms:created xsi:type="dcterms:W3CDTF">2026-04-28T00:19:05Z</dcterms:created>
  <dcterms:modified xsi:type="dcterms:W3CDTF">2026-04-28T00:29:49Z</dcterms:modified>
</cp:coreProperties>
</file>